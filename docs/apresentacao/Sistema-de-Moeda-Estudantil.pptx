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30 s. Apresentar o grupo e o objetivo: reconhecer alunos por meio de moedas virtuais, com benefícios oferecidos por empresas parceiras.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40 s. Explicar o papel de cada perfil. As moedas são virtuais, usadas no contexto do laboratório. O professor não se cadastra publicamente: seus dados vêm da instituição.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40 s. Apresentar a implementação atual em backend/ e frontend/. A versão inicial da Sprint 2 em SQLite foi preservada como entrega histórica; esta apresentação trata da aplicação integrada 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50 s. Os valores 100 e 60 são exemplos, não dados reais. O aluno começa com zero; a empresa não possui carteira. O saldo não pode ficar negativo. O professor consulta alunos ativos da mesma instituição, decisão D09 do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50 s. Explicar MVC e a separação em camadas. Controllers recebem DTOs; services verificam autorização e regras dentro de transações; repositories acessam PostgreSQL por Spring Data JPA. Hibernate valida o esquema criado pelo Flyway.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50 s. Referência: docs/modelagem/persistencia.md e diagramas/modelo-er.png. Aluno, professor e empresa associam o UUID de Usuario como PK e FK, sem herança JPA. O cupom fica na movimentação de resgate. A descrição e o custo resgatados são preservados no histórico.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45 s. A unicidade de solicitante e requisicaoId protege o comando. Repetir o mesmo comando retorna o registro original; reutilizar o identificador com outro comando gera conflito. Crédito semestral também tem proteção contra duplicidade. Falhas causam rollback da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40 s. Explicar que esconder botões não basta: os serviços validam o titular e o perfil. Cadastro e login são públicos; demais operações exigem sessão. Professores são importados por arquivo institucional privado.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45 s. O envio SMTP ocorre após a confirmação da operação. Se falhar, apenas a notificação é repetida, sem novo débito. Mailpit captura emails locais; um provedor SMTP no .env permite entrega externa. A conferência do cupom é presencial, sem baixa digital nesta versão.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2 a 3 min. Preparar previamente aluno, empresa e professor fictícios. Login do professor: professor.demo; consultar a senha no arquivo local, sem mostrá-la nos slides. A vantagem deve custar menos que o saldo disponível. Alternar as sessões ao demonstrar os perfis. Confirmar backend, frontend, PostgreSQL e Mailpit antes da apresentação. Os endereços são da máquina que executa a aplicação.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35 s. Não afirmar que a suíte completa passou: a documentação indica que a campanha completa ficou para a etapa posterior. Estas verificações são as registradas no projeto, não uma nova execução feita para criar os slides. O SMTP externo depende da configuração de um provedor.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20 s. Retomar o objetivo do sistema e abrir para perguntas. Referências internas: README.md; docs/modelagem/persistencia.md; docs/modelagem/requisitos.md; código em backend/ e frontend/.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482600"/>
            <a:ext cx="444500" cy="50800"/>
          </a:xfrm>
          <a:prstGeom prst="rect">
            <a:avLst/>
          </a:prstGeom>
          <a:solidFill>
            <a:srgbClr val="56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355600"/>
            <a:ext cx="10287000" cy="2951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200" b="1">
                <a:solidFill>
                  <a:srgbClr val="56D9B0"/>
                </a:solidFill>
                <a:latin typeface="Arial"/>
              </a:defRPr>
            </a:pPr>
            <a:r>
              <a:t>APRESENTAÇÃO DO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914400"/>
            <a:ext cx="1117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F4F7FA"/>
                </a:solidFill>
                <a:latin typeface="Arial"/>
              </a:defRPr>
            </a:pPr>
            <a:r>
              <a:t>Sistema de Moeda Estudantil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651000"/>
            <a:ext cx="11176000" cy="3919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800" b="0">
                <a:solidFill>
                  <a:srgbClr val="B6C7D9"/>
                </a:solidFill>
                <a:latin typeface="Arial"/>
              </a:defRPr>
            </a:pPr>
            <a:r>
              <a:t>Reconhecimento acadêmico que se transforma em benefícios.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299200"/>
            <a:ext cx="11176000" cy="12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6477000"/>
            <a:ext cx="10414000" cy="262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B6C7D9"/>
                </a:solidFill>
                <a:latin typeface="Arial"/>
              </a:defRPr>
            </a:pPr>
            <a:r>
              <a:t>PUC MINAS  /  PROJETO DE SOFTWARE  /  LABORATÓRIO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500" y="6438900"/>
            <a:ext cx="508000" cy="3274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400" b="1">
                <a:solidFill>
                  <a:srgbClr val="56D9B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768600"/>
            <a:ext cx="7620000" cy="617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200" b="1">
                <a:solidFill>
                  <a:srgbClr val="56D9B0"/>
                </a:solidFill>
                <a:latin typeface="Arial"/>
              </a:defRPr>
            </a:pPr>
            <a:r>
              <a:t>Mérito → moedas → 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3835400"/>
            <a:ext cx="10795000" cy="11661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0">
                <a:solidFill>
                  <a:srgbClr val="F4F7FA"/>
                </a:solidFill>
                <a:latin typeface="Arial"/>
              </a:defRPr>
            </a:pPr>
            <a:r>
              <a:t>Guilherme Horta Dias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2200" b="0">
                <a:solidFill>
                  <a:srgbClr val="F4F7FA"/>
                </a:solidFill>
                <a:latin typeface="Arial"/>
              </a:defRPr>
            </a:pPr>
            <a:r>
              <a:t>Lucas Batista Duarte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2200" b="0">
                <a:solidFill>
                  <a:srgbClr val="F4F7FA"/>
                </a:solidFill>
                <a:latin typeface="Arial"/>
              </a:defRPr>
            </a:pPr>
            <a:r>
              <a:t>Rafael Abras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5384800"/>
            <a:ext cx="10795000" cy="3757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B6C7D9"/>
                </a:solidFill>
                <a:latin typeface="Arial"/>
              </a:defRPr>
            </a:pPr>
            <a:r>
              <a:t>Engenharia de Software · Profa. Milena Menezes Adão · 2026/2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482600"/>
            <a:ext cx="444500" cy="50800"/>
          </a:xfrm>
          <a:prstGeom prst="rect">
            <a:avLst/>
          </a:prstGeom>
          <a:solidFill>
            <a:srgbClr val="56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355600"/>
            <a:ext cx="10287000" cy="2951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200" b="1">
                <a:solidFill>
                  <a:srgbClr val="56D9B0"/>
                </a:solidFill>
                <a:latin typeface="Arial"/>
              </a:defRPr>
            </a:pPr>
            <a: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914400"/>
            <a:ext cx="1117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F4F7FA"/>
                </a:solidFill>
                <a:latin typeface="Arial"/>
              </a:defRPr>
            </a:pPr>
            <a:r>
              <a:t>Do reconhecimento ao benefício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651000"/>
            <a:ext cx="11176000" cy="3919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800" b="0">
                <a:solidFill>
                  <a:srgbClr val="B6C7D9"/>
                </a:solidFill>
                <a:latin typeface="Arial"/>
              </a:defRPr>
            </a:pPr>
            <a:r>
              <a:t>Três perfis participam de um único ciclo de mérito estudantil.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299200"/>
            <a:ext cx="11176000" cy="12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6477000"/>
            <a:ext cx="10414000" cy="262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B6C7D9"/>
                </a:solidFill>
                <a:latin typeface="Arial"/>
              </a:defRPr>
            </a:pPr>
            <a:r>
              <a:t>PUC MINAS  /  PROJETO DE SOFTWARE  /  LABORATÓRIO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500" y="6438900"/>
            <a:ext cx="508000" cy="3274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400" b="1">
                <a:solidFill>
                  <a:srgbClr val="56D9B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2438400"/>
            <a:ext cx="3589866" cy="3048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Professor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327400"/>
            <a:ext cx="3081866" cy="10209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Reconhece o aluno 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registra o motivo do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envio de moedas.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1066" y="2438400"/>
            <a:ext cx="3589866" cy="3048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5066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Aluno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066" y="3327400"/>
            <a:ext cx="3081866" cy="10209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Acompanha saldo 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extrato e troca moedas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por vantagens.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4133" y="2438400"/>
            <a:ext cx="3589866" cy="3048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133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Empresa parceira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133" y="3327400"/>
            <a:ext cx="3081866" cy="10209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Publica ofertas e recebe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o cupom do resgate por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email.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482600"/>
            <a:ext cx="444500" cy="50800"/>
          </a:xfrm>
          <a:prstGeom prst="rect">
            <a:avLst/>
          </a:prstGeom>
          <a:solidFill>
            <a:srgbClr val="56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355600"/>
            <a:ext cx="10287000" cy="2951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200" b="1">
                <a:solidFill>
                  <a:srgbClr val="56D9B0"/>
                </a:solidFill>
                <a:latin typeface="Arial"/>
              </a:defRPr>
            </a:pPr>
            <a:r>
              <a:t>ESCOPO IMPLEMENTADO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914400"/>
            <a:ext cx="1117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F4F7FA"/>
                </a:solidFill>
                <a:latin typeface="Arial"/>
              </a:defRPr>
            </a:pPr>
            <a:r>
              <a:t>Um fluxo completo de ponta a ponta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651000"/>
            <a:ext cx="11176000" cy="3919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800" b="0">
                <a:solidFill>
                  <a:srgbClr val="B6C7D9"/>
                </a:solidFill>
                <a:latin typeface="Arial"/>
              </a:defRPr>
            </a:pPr>
            <a:r>
              <a:t>Da criação do cadastro ao cupom enviado por email.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299200"/>
            <a:ext cx="11176000" cy="12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6477000"/>
            <a:ext cx="10414000" cy="262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B6C7D9"/>
                </a:solidFill>
                <a:latin typeface="Arial"/>
              </a:defRPr>
            </a:pPr>
            <a:r>
              <a:t>PUC MINAS  /  PROJETO DE SOFTWARE  /  LABORATÓRIO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500" y="6438900"/>
            <a:ext cx="508000" cy="3274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400" b="1">
                <a:solidFill>
                  <a:srgbClr val="56D9B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2438400"/>
            <a:ext cx="3589866" cy="3048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01 / Acesso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327400"/>
            <a:ext cx="3081866" cy="13274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Cadastros de aluno 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empresa.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Login e permissões por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perfil.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1066" y="2438400"/>
            <a:ext cx="3589866" cy="3048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5066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02 / Mérito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066" y="3327400"/>
            <a:ext cx="3081866" cy="10209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Crédito semestral.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Envio com motivo.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Saldo e extrato.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4133" y="2438400"/>
            <a:ext cx="3589866" cy="3048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133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03 / Benefícios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133" y="3327400"/>
            <a:ext cx="3081866" cy="10209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Vantagens com foto.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Resgate com cupom.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Notificações por email.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482600"/>
            <a:ext cx="444500" cy="50800"/>
          </a:xfrm>
          <a:prstGeom prst="rect">
            <a:avLst/>
          </a:prstGeom>
          <a:solidFill>
            <a:srgbClr val="56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355600"/>
            <a:ext cx="10287000" cy="2951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200" b="1">
                <a:solidFill>
                  <a:srgbClr val="56D9B0"/>
                </a:solidFill>
                <a:latin typeface="Arial"/>
              </a:defRPr>
            </a:pPr>
            <a:r>
              <a:t>REGRAS DE NEGÓCIO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914400"/>
            <a:ext cx="1117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F4F7FA"/>
                </a:solidFill>
                <a:latin typeface="Arial"/>
              </a:defRPr>
            </a:pPr>
            <a:r>
              <a:t>Como as moedas circulam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651000"/>
            <a:ext cx="11176000" cy="3919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800" b="0">
                <a:solidFill>
                  <a:srgbClr val="B6C7D9"/>
                </a:solidFill>
                <a:latin typeface="Arial"/>
              </a:defRPr>
            </a:pPr>
            <a:r>
              <a:t>Exemplo ilustrativo de reconhecimento e resgate.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299200"/>
            <a:ext cx="11176000" cy="12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6477000"/>
            <a:ext cx="10414000" cy="262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B6C7D9"/>
                </a:solidFill>
                <a:latin typeface="Arial"/>
              </a:defRPr>
            </a:pPr>
            <a:r>
              <a:t>PUC MINAS  /  PROJETO DE SOFTWARE  /  LABORATÓRIO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500" y="6438900"/>
            <a:ext cx="508000" cy="3274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400" b="1">
                <a:solidFill>
                  <a:srgbClr val="56D9B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2438400"/>
            <a:ext cx="3589866" cy="3175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1.000 moedas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327400"/>
            <a:ext cx="3081866" cy="13274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O professor recebe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crédito a cada semestre,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somado ao saldo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restante.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1066" y="2438400"/>
            <a:ext cx="3589866" cy="3175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5066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Reconhecimento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066" y="3327400"/>
            <a:ext cx="3081866" cy="13274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O professor envia 100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moedas e informa o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motivo. O aluno recebe o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crédito.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4133" y="2438400"/>
            <a:ext cx="3589866" cy="3175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133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Resgate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133" y="3327400"/>
            <a:ext cx="3081866" cy="13274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Uma vantagem de 60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moedas gera um cupom. O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aluno fica com 40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moedas.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482600"/>
            <a:ext cx="444500" cy="50800"/>
          </a:xfrm>
          <a:prstGeom prst="rect">
            <a:avLst/>
          </a:prstGeom>
          <a:solidFill>
            <a:srgbClr val="56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355600"/>
            <a:ext cx="10287000" cy="2951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200" b="1">
                <a:solidFill>
                  <a:srgbClr val="56D9B0"/>
                </a:solidFill>
                <a:latin typeface="Arial"/>
              </a:defRPr>
            </a:pPr>
            <a:r>
              <a:t>ARQUITETURA MVC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914400"/>
            <a:ext cx="1117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F4F7FA"/>
                </a:solidFill>
                <a:latin typeface="Arial"/>
              </a:defRPr>
            </a:pPr>
            <a:r>
              <a:t>Responsabilidades bem definidas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651000"/>
            <a:ext cx="11176000" cy="3919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800" b="0">
                <a:solidFill>
                  <a:srgbClr val="B6C7D9"/>
                </a:solidFill>
                <a:latin typeface="Arial"/>
              </a:defRPr>
            </a:pPr>
            <a:r>
              <a:t>A interface apresenta; os serviços aplicam as regras de negócio.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299200"/>
            <a:ext cx="11176000" cy="12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6477000"/>
            <a:ext cx="10414000" cy="262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B6C7D9"/>
                </a:solidFill>
                <a:latin typeface="Arial"/>
              </a:defRPr>
            </a:pPr>
            <a:r>
              <a:t>PUC MINAS  /  PROJETO DE SOFTWARE  /  LABORATÓRIO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500" y="6438900"/>
            <a:ext cx="508000" cy="3274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400" b="1">
                <a:solidFill>
                  <a:srgbClr val="56D9B0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2667000"/>
            <a:ext cx="2641600" cy="1905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21000"/>
            <a:ext cx="2286000" cy="7790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56D9B0"/>
                </a:solidFill>
                <a:latin typeface="Arial"/>
              </a:defRPr>
            </a:pPr>
            <a:r>
              <a:t>React +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56D9B0"/>
                </a:solidFill>
                <a:latin typeface="Arial"/>
              </a:defRPr>
            </a:pPr>
            <a:r>
              <a:t>TypeScript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08400"/>
            <a:ext cx="228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F4F7FA"/>
                </a:solidFill>
                <a:latin typeface="Arial"/>
              </a:defRPr>
            </a:pPr>
            <a:r>
              <a:t>Telas e chamadas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F4F7FA"/>
                </a:solidFill>
                <a:latin typeface="Arial"/>
              </a:defRPr>
            </a:pPr>
            <a:r>
              <a:t>HTTP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9600" y="3390900"/>
            <a:ext cx="254000" cy="408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1">
                <a:solidFill>
                  <a:srgbClr val="56D9B0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2800" y="2667000"/>
            <a:ext cx="2641600" cy="1905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600" y="2921000"/>
            <a:ext cx="2286000" cy="440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56D9B0"/>
                </a:solidFill>
                <a:latin typeface="Arial"/>
              </a:defRPr>
            </a:pPr>
            <a:r>
              <a:t>Controllers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0600" y="3708400"/>
            <a:ext cx="228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F4F7FA"/>
                </a:solidFill>
                <a:latin typeface="Arial"/>
              </a:defRPr>
            </a:pPr>
            <a:r>
              <a:t>HTTP, DTOs 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F4F7FA"/>
                </a:solidFill>
                <a:latin typeface="Arial"/>
              </a:defRPr>
            </a:pPr>
            <a:r>
              <a:t>validação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4400" y="3390900"/>
            <a:ext cx="254000" cy="408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1">
                <a:solidFill>
                  <a:srgbClr val="56D9B0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7600" y="2667000"/>
            <a:ext cx="2641600" cy="1905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5400" y="2921000"/>
            <a:ext cx="2286000" cy="440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56D9B0"/>
                </a:solidFill>
                <a:latin typeface="Arial"/>
              </a:defRPr>
            </a:pPr>
            <a:r>
              <a:t>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5400" y="3708400"/>
            <a:ext cx="2286000" cy="3757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F4F7FA"/>
                </a:solidFill>
                <a:latin typeface="Arial"/>
              </a:defRPr>
            </a:pPr>
            <a:r>
              <a:t>Regras e transações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200" y="3390900"/>
            <a:ext cx="254000" cy="408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1">
                <a:solidFill>
                  <a:srgbClr val="56D9B0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42400" y="2667000"/>
            <a:ext cx="2641600" cy="1905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0200" y="2921000"/>
            <a:ext cx="2286000" cy="440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56D9B0"/>
                </a:solidFill>
                <a:latin typeface="Arial"/>
              </a:defRPr>
            </a:pPr>
            <a:r>
              <a:t>JPA + PostgreSQL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0200" y="3708400"/>
            <a:ext cx="228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F4F7FA"/>
                </a:solidFill>
                <a:latin typeface="Arial"/>
              </a:defRPr>
            </a:pPr>
            <a:r>
              <a:t>Entidades 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700" b="0">
                <a:solidFill>
                  <a:srgbClr val="F4F7FA"/>
                </a:solidFill>
                <a:latin typeface="Arial"/>
              </a:defRPr>
            </a:pPr>
            <a:r>
              <a:t>persistência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000" y="5080000"/>
            <a:ext cx="11049000" cy="440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0">
                <a:solidFill>
                  <a:srgbClr val="B6C7D9"/>
                </a:solidFill>
                <a:latin typeface="Arial"/>
              </a:defRPr>
            </a:pPr>
            <a:r>
              <a:t>Spring Boot no backend · Flyway versiona o esquema do banco.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482600"/>
            <a:ext cx="444500" cy="50800"/>
          </a:xfrm>
          <a:prstGeom prst="rect">
            <a:avLst/>
          </a:prstGeom>
          <a:solidFill>
            <a:srgbClr val="56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355600"/>
            <a:ext cx="10287000" cy="2951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200" b="1">
                <a:solidFill>
                  <a:srgbClr val="56D9B0"/>
                </a:solidFill>
                <a:latin typeface="Arial"/>
              </a:defRPr>
            </a:pPr>
            <a:r>
              <a:t>MODELO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914400"/>
            <a:ext cx="1117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F4F7FA"/>
                </a:solidFill>
                <a:latin typeface="Arial"/>
              </a:defRPr>
            </a:pPr>
            <a:r>
              <a:t>Identidade, saldo e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651000"/>
            <a:ext cx="11176000" cy="3919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800" b="0">
                <a:solidFill>
                  <a:srgbClr val="B6C7D9"/>
                </a:solidFill>
                <a:latin typeface="Arial"/>
              </a:defRPr>
            </a:pPr>
            <a:r>
              <a:t>Visão resumida das relações; o ER completo está na documentação.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299200"/>
            <a:ext cx="11176000" cy="12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6477000"/>
            <a:ext cx="10414000" cy="262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B6C7D9"/>
                </a:solidFill>
                <a:latin typeface="Arial"/>
              </a:defRPr>
            </a:pPr>
            <a:r>
              <a:t>PUC MINAS  /  PROJETO DE SOFTWARE  /  LABORATÓRIO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500" y="6438900"/>
            <a:ext cx="508000" cy="3274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400" b="1">
                <a:solidFill>
                  <a:srgbClr val="56D9B0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2438400"/>
            <a:ext cx="3589866" cy="33528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Identidade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327400"/>
            <a:ext cx="3081866" cy="13274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Usuário vincula aluno,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professor ou empresa.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Aluno e professor têm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instituição.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1066" y="2438400"/>
            <a:ext cx="3589866" cy="33528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5066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Moedas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066" y="3327400"/>
            <a:ext cx="3081866" cy="163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Aluno e professor têm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conta.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Movimentações registram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créditos, envios 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resgates.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4133" y="2438400"/>
            <a:ext cx="3589866" cy="33528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133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Benefícios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133" y="3327400"/>
            <a:ext cx="3081866" cy="163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Empresa publica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vantagem.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Resgate guarda cupom.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Notificação registra o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email.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482600"/>
            <a:ext cx="444500" cy="50800"/>
          </a:xfrm>
          <a:prstGeom prst="rect">
            <a:avLst/>
          </a:prstGeom>
          <a:solidFill>
            <a:srgbClr val="56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355600"/>
            <a:ext cx="10287000" cy="2951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200" b="1">
                <a:solidFill>
                  <a:srgbClr val="56D9B0"/>
                </a:solidFill>
                <a:latin typeface="Arial"/>
              </a:defRPr>
            </a:pPr>
            <a:r>
              <a:t>INTEGRIDADE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914400"/>
            <a:ext cx="1117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F4F7FA"/>
                </a:solidFill>
                <a:latin typeface="Arial"/>
              </a:defRPr>
            </a:pPr>
            <a:r>
              <a:t>Uma operação, um registro consistente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651000"/>
            <a:ext cx="11176000" cy="3919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800" b="0">
                <a:solidFill>
                  <a:srgbClr val="B6C7D9"/>
                </a:solidFill>
                <a:latin typeface="Arial"/>
              </a:defRPr>
            </a:pPr>
            <a:r>
              <a:t>Saldo, movimentação e intenção de email são confirmados juntos.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299200"/>
            <a:ext cx="11176000" cy="12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6477000"/>
            <a:ext cx="10414000" cy="262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B6C7D9"/>
                </a:solidFill>
                <a:latin typeface="Arial"/>
              </a:defRPr>
            </a:pPr>
            <a:r>
              <a:t>PUC MINAS  /  PROJETO DE SOFTWARE  /  LABORATÓRIO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500" y="6438900"/>
            <a:ext cx="508000" cy="3274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400" b="1">
                <a:solidFill>
                  <a:srgbClr val="56D9B0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2438400"/>
            <a:ext cx="3589866" cy="3048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Saldo protegido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327400"/>
            <a:ext cx="3081866" cy="10209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Bloqueio de contas 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validação impedem débito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acima do saldo.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1066" y="2438400"/>
            <a:ext cx="3589866" cy="3048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5066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Sem duplicidade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066" y="3327400"/>
            <a:ext cx="3081866" cy="13274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Uma identificação por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comando evita repetir o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débito ao reenviar a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operação.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4133" y="2438400"/>
            <a:ext cx="3589866" cy="3048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133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Histórico preservado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133" y="3327400"/>
            <a:ext cx="3081866" cy="13274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Inativação conserva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cadastros 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movimentações já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realizadas.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482600"/>
            <a:ext cx="444500" cy="50800"/>
          </a:xfrm>
          <a:prstGeom prst="rect">
            <a:avLst/>
          </a:prstGeom>
          <a:solidFill>
            <a:srgbClr val="56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355600"/>
            <a:ext cx="10287000" cy="2951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200" b="1">
                <a:solidFill>
                  <a:srgbClr val="56D9B0"/>
                </a:solidFill>
                <a:latin typeface="Arial"/>
              </a:defRPr>
            </a:pPr>
            <a:r>
              <a:t>ACESSO E SEGURANÇA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914400"/>
            <a:ext cx="1117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F4F7FA"/>
                </a:solidFill>
                <a:latin typeface="Arial"/>
              </a:defRPr>
            </a:pPr>
            <a:r>
              <a:t>Cada perfil acessa suas funções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651000"/>
            <a:ext cx="11176000" cy="3919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800" b="0">
                <a:solidFill>
                  <a:srgbClr val="B6C7D9"/>
                </a:solidFill>
                <a:latin typeface="Arial"/>
              </a:defRPr>
            </a:pPr>
            <a:r>
              <a:t>Autorização no backend acompanha a navegação da interface.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299200"/>
            <a:ext cx="11176000" cy="12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6477000"/>
            <a:ext cx="10414000" cy="262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B6C7D9"/>
                </a:solidFill>
                <a:latin typeface="Arial"/>
              </a:defRPr>
            </a:pPr>
            <a:r>
              <a:t>PUC MINAS  /  PROJETO DE SOFTWARE  /  LABORATÓRIO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500" y="6438900"/>
            <a:ext cx="508000" cy="3274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400" b="1">
                <a:solidFill>
                  <a:srgbClr val="56D9B0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2438400"/>
            <a:ext cx="3589866" cy="3048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Autenticação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327400"/>
            <a:ext cx="3081866" cy="13274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Senhas com BCrypt.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Sessão com cookie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HttpOnly e proteção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CSRF.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1066" y="2438400"/>
            <a:ext cx="3589866" cy="3048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5066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Autorização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066" y="3327400"/>
            <a:ext cx="3081866" cy="13274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Aluno e empresa mantêm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apenas seu próprio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cadastro. Professor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reconhece alunos.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4133" y="2438400"/>
            <a:ext cx="3589866" cy="3048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133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Validação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133" y="3327400"/>
            <a:ext cx="3081866" cy="13274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DTOs e Bean Validation.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Entidades e hashes de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senha não são expostos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pela API.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482600"/>
            <a:ext cx="444500" cy="50800"/>
          </a:xfrm>
          <a:prstGeom prst="rect">
            <a:avLst/>
          </a:prstGeom>
          <a:solidFill>
            <a:srgbClr val="56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355600"/>
            <a:ext cx="10287000" cy="2951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200" b="1">
                <a:solidFill>
                  <a:srgbClr val="56D9B0"/>
                </a:solidFill>
                <a:latin typeface="Arial"/>
              </a:defRPr>
            </a:pPr>
            <a:r>
              <a:t>EMAILS E CUPONS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914400"/>
            <a:ext cx="1117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F4F7FA"/>
                </a:solidFill>
                <a:latin typeface="Arial"/>
              </a:defRPr>
            </a:pPr>
            <a:r>
              <a:t>O resgate chega às duas partes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651000"/>
            <a:ext cx="11176000" cy="3919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800" b="0">
                <a:solidFill>
                  <a:srgbClr val="B6C7D9"/>
                </a:solidFill>
                <a:latin typeface="Arial"/>
              </a:defRPr>
            </a:pPr>
            <a:r>
              <a:t>Aluno e empresa recebem o mesmo código de cupom.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299200"/>
            <a:ext cx="11176000" cy="12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6477000"/>
            <a:ext cx="10414000" cy="262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B6C7D9"/>
                </a:solidFill>
                <a:latin typeface="Arial"/>
              </a:defRPr>
            </a:pPr>
            <a:r>
              <a:t>PUC MINAS  /  PROJETO DE SOFTWARE  /  LABORATÓRIO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500" y="6438900"/>
            <a:ext cx="508000" cy="3274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400" b="1">
                <a:solidFill>
                  <a:srgbClr val="56D9B0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2286000"/>
            <a:ext cx="11176000" cy="1028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451100"/>
            <a:ext cx="3302000" cy="440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56D9B0"/>
                </a:solidFill>
                <a:latin typeface="Arial"/>
              </a:defRPr>
            </a:pPr>
            <a:r>
              <a:t>Resgate confirmado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5000" y="2463800"/>
            <a:ext cx="6858000" cy="4241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000" b="0">
                <a:solidFill>
                  <a:srgbClr val="F4F7FA"/>
                </a:solidFill>
                <a:latin typeface="Arial"/>
              </a:defRPr>
            </a:pPr>
            <a:r>
              <a:t>Banco registra débito, cupom e notificações.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3492500"/>
            <a:ext cx="11176000" cy="1028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3657600"/>
            <a:ext cx="3302000" cy="440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56D9B0"/>
                </a:solidFill>
                <a:latin typeface="Arial"/>
              </a:defRPr>
            </a:pPr>
            <a:r>
              <a:t>Worker de 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5000" y="3670300"/>
            <a:ext cx="6858000" cy="4241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000" b="0">
                <a:solidFill>
                  <a:srgbClr val="F4F7FA"/>
                </a:solidFill>
                <a:latin typeface="Arial"/>
              </a:defRPr>
            </a:pPr>
            <a:r>
              <a:t>Processa o envio e tenta novamente após falha.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8000" y="4699000"/>
            <a:ext cx="11176000" cy="1028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864100"/>
            <a:ext cx="3302000" cy="440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56D9B0"/>
                </a:solidFill>
                <a:latin typeface="Arial"/>
              </a:defRPr>
            </a:pPr>
            <a:r>
              <a:t>Mailpit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5000" y="4876800"/>
            <a:ext cx="6858000" cy="4241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000" b="0">
                <a:solidFill>
                  <a:srgbClr val="F4F7FA"/>
                </a:solidFill>
                <a:latin typeface="Arial"/>
              </a:defRPr>
            </a:pPr>
            <a:r>
              <a:t>Captura mensagens em localhost:8025.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482600"/>
            <a:ext cx="444500" cy="50800"/>
          </a:xfrm>
          <a:prstGeom prst="rect">
            <a:avLst/>
          </a:prstGeom>
          <a:solidFill>
            <a:srgbClr val="56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355600"/>
            <a:ext cx="10287000" cy="2951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200" b="1">
                <a:solidFill>
                  <a:srgbClr val="56D9B0"/>
                </a:solidFill>
                <a:latin typeface="Arial"/>
              </a:defRPr>
            </a:pPr>
            <a:r>
              <a:t>DEMONSTRAÇÃO AO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914400"/>
            <a:ext cx="1117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F4F7FA"/>
                </a:solidFill>
                <a:latin typeface="Arial"/>
              </a:defRPr>
            </a:pPr>
            <a:r>
              <a:t>Percorrer o ciclo na 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651000"/>
            <a:ext cx="11176000" cy="3919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800" b="0">
                <a:solidFill>
                  <a:srgbClr val="B6C7D9"/>
                </a:solidFill>
                <a:latin typeface="Arial"/>
              </a:defRPr>
            </a:pPr>
            <a:r>
              <a:t>Aplicação: localhost:5173  ·  Emails: localhost:8025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299200"/>
            <a:ext cx="11176000" cy="12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6477000"/>
            <a:ext cx="10414000" cy="262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B6C7D9"/>
                </a:solidFill>
                <a:latin typeface="Arial"/>
              </a:defRPr>
            </a:pPr>
            <a:r>
              <a:t>PUC MINAS  /  PROJETO DE SOFTWARE  /  LABORATÓRIO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500" y="6438900"/>
            <a:ext cx="508000" cy="3274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400" b="1">
                <a:solidFill>
                  <a:srgbClr val="56D9B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298700"/>
            <a:ext cx="698500" cy="5209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600" b="1">
                <a:solidFill>
                  <a:srgbClr val="56D9B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3500" y="2298700"/>
            <a:ext cx="3111500" cy="440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F4F7FA"/>
                </a:solidFill>
                <a:latin typeface="Arial"/>
              </a:defRPr>
            </a:pPr>
            <a:r>
              <a:t>Aluno e empresa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98700"/>
            <a:ext cx="6985000" cy="408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B6C7D9"/>
                </a:solidFill>
                <a:latin typeface="Arial"/>
              </a:defRPr>
            </a:pPr>
            <a:r>
              <a:t>Mostrar cadastros e publicar uma vantagem com foto.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3213100"/>
            <a:ext cx="698500" cy="5209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600" b="1">
                <a:solidFill>
                  <a:srgbClr val="56D9B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3213100"/>
            <a:ext cx="3111500" cy="440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F4F7FA"/>
                </a:solidFill>
                <a:latin typeface="Arial"/>
              </a:defRPr>
            </a:pPr>
            <a:r>
              <a:t>Professor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13100"/>
            <a:ext cx="6985000" cy="408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B6C7D9"/>
                </a:solidFill>
                <a:latin typeface="Arial"/>
              </a:defRPr>
            </a:pPr>
            <a:r>
              <a:t>Entrar, escolher aluno e enviar moedas com um motivo.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4127500"/>
            <a:ext cx="698500" cy="5209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600" b="1">
                <a:solidFill>
                  <a:srgbClr val="56D9B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3500" y="4127500"/>
            <a:ext cx="3111500" cy="440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F4F7FA"/>
                </a:solidFill>
                <a:latin typeface="Arial"/>
              </a:defRPr>
            </a:pPr>
            <a:r>
              <a:t>Aluno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127500"/>
            <a:ext cx="6985000" cy="408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B6C7D9"/>
                </a:solidFill>
                <a:latin typeface="Arial"/>
              </a:defRPr>
            </a:pPr>
            <a:r>
              <a:t>Conferir o extrato e resgatar a vantagem.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5041900"/>
            <a:ext cx="698500" cy="5209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600" b="1">
                <a:solidFill>
                  <a:srgbClr val="56D9B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5041900"/>
            <a:ext cx="3111500" cy="440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100" b="1">
                <a:solidFill>
                  <a:srgbClr val="F4F7FA"/>
                </a:solidFill>
                <a:latin typeface="Arial"/>
              </a:defRPr>
            </a:pPr>
            <a:r>
              <a:t>Mailpit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041900"/>
            <a:ext cx="6985000" cy="714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B6C7D9"/>
                </a:solidFill>
                <a:latin typeface="Arial"/>
              </a:defRPr>
            </a:pPr>
            <a:r>
              <a:t>Abrir os emails do resgate e comparar o código do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B6C7D9"/>
                </a:solidFill>
                <a:latin typeface="Arial"/>
              </a:defRPr>
            </a:pPr>
            <a:r>
              <a:t>cupom.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482600"/>
            <a:ext cx="444500" cy="50800"/>
          </a:xfrm>
          <a:prstGeom prst="rect">
            <a:avLst/>
          </a:prstGeom>
          <a:solidFill>
            <a:srgbClr val="56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355600"/>
            <a:ext cx="10287000" cy="2951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200" b="1">
                <a:solidFill>
                  <a:srgbClr val="56D9B0"/>
                </a:solidFill>
                <a:latin typeface="Arial"/>
              </a:defRPr>
            </a:pPr>
            <a:r>
              <a:t>VALIDAÇÃO E LIMITES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914400"/>
            <a:ext cx="1117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F4F7FA"/>
                </a:solidFill>
                <a:latin typeface="Arial"/>
              </a:defRPr>
            </a:pPr>
            <a:r>
              <a:t>O que foi verificado e o que falta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651000"/>
            <a:ext cx="11176000" cy="3919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800" b="0">
                <a:solidFill>
                  <a:srgbClr val="B6C7D9"/>
                </a:solidFill>
                <a:latin typeface="Arial"/>
              </a:defRPr>
            </a:pPr>
            <a:r>
              <a:t>Separar implementação entregue de validação ainda pendente.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299200"/>
            <a:ext cx="11176000" cy="12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6477000"/>
            <a:ext cx="10414000" cy="262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B6C7D9"/>
                </a:solidFill>
                <a:latin typeface="Arial"/>
              </a:defRPr>
            </a:pPr>
            <a:r>
              <a:t>PUC MINAS  /  PROJETO DE SOFTWARE  /  LABORATÓRIO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500" y="6438900"/>
            <a:ext cx="508000" cy="3274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400" b="1">
                <a:solidFill>
                  <a:srgbClr val="56D9B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2438400"/>
            <a:ext cx="3589866" cy="3175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667000"/>
            <a:ext cx="3081866" cy="8112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Verificação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registrada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327400"/>
            <a:ext cx="3081866" cy="13274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A documentação registra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compilação e uma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verificação básica de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integração.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1066" y="2438400"/>
            <a:ext cx="3589866" cy="3175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5066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Próxima etapa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066" y="3327400"/>
            <a:ext cx="3081866" cy="13274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Executar a campanha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completa de testes e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ampliar a validação dos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fluxos.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4133" y="2438400"/>
            <a:ext cx="3589866" cy="31750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133" y="2667000"/>
            <a:ext cx="3081866" cy="4564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56D9B0"/>
                </a:solidFill>
                <a:latin typeface="Arial"/>
              </a:defRPr>
            </a:pPr>
            <a:r>
              <a:t>Limites atuais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133" y="3327400"/>
            <a:ext cx="3081866" cy="163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Mailpit captura emails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locais.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Cupom tem conferência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presencial.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1900" b="0">
                <a:solidFill>
                  <a:srgbClr val="F4F7FA"/>
                </a:solidFill>
                <a:latin typeface="Arial"/>
              </a:defRPr>
            </a:pPr>
            <a:r>
              <a:t>Sem baixa digital.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482600"/>
            <a:ext cx="444500" cy="50800"/>
          </a:xfrm>
          <a:prstGeom prst="rect">
            <a:avLst/>
          </a:prstGeom>
          <a:solidFill>
            <a:srgbClr val="56D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355600"/>
            <a:ext cx="10287000" cy="2951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200" b="1">
                <a:solidFill>
                  <a:srgbClr val="56D9B0"/>
                </a:solidFill>
                <a:latin typeface="Arial"/>
              </a:defRPr>
            </a:pPr>
            <a:r>
              <a:t>ENCERRAMENTO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914400"/>
            <a:ext cx="11176000" cy="649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400" b="1">
                <a:solidFill>
                  <a:srgbClr val="F4F7FA"/>
                </a:solidFill>
                <a:latin typeface="Arial"/>
              </a:defRPr>
            </a:pPr>
            <a:r>
              <a:t>Do mérito ao benefício, com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651000"/>
            <a:ext cx="11176000" cy="3919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800" b="0">
                <a:solidFill>
                  <a:srgbClr val="B6C7D9"/>
                </a:solidFill>
                <a:latin typeface="Arial"/>
              </a:defRPr>
            </a:pPr>
            <a:r>
              <a:t>Cadastro → reconhecimento → resgate → cupom → email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6299200"/>
            <a:ext cx="11176000" cy="12700"/>
          </a:xfrm>
          <a:prstGeom prst="rect">
            <a:avLst/>
          </a:prstGeom>
          <a:solidFill>
            <a:srgbClr val="1B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6477000"/>
            <a:ext cx="10414000" cy="262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000" b="0">
                <a:solidFill>
                  <a:srgbClr val="B6C7D9"/>
                </a:solidFill>
                <a:latin typeface="Arial"/>
              </a:defRPr>
            </a:pPr>
            <a:r>
              <a:t>PUC MINAS  /  PROJETO DE SOFTWARE  /  LABORATÓRIO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500" y="6438900"/>
            <a:ext cx="508000" cy="3274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400" b="1">
                <a:solidFill>
                  <a:srgbClr val="56D9B0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794000"/>
            <a:ext cx="10985500" cy="11338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3200" b="1">
                <a:solidFill>
                  <a:srgbClr val="56D9B0"/>
                </a:solidFill>
                <a:latin typeface="Arial"/>
              </a:defRPr>
            </a:pPr>
            <a:r>
              <a:t>Três perfis conectados por um fluxo de moedas</a:t>
            </a:r>
          </a:p>
          <a:p>
            <a:pPr>
              <a:lnSpc>
                <a:spcPct val="115000"/>
              </a:lnSpc>
              <a:spcAft>
                <a:spcPts val="0"/>
              </a:spcAft>
              <a:defRPr sz="3200" b="1">
                <a:solidFill>
                  <a:srgbClr val="56D9B0"/>
                </a:solidFill>
                <a:latin typeface="Arial"/>
              </a:defRPr>
            </a:pPr>
            <a:r>
              <a:t>rastreável.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4241800"/>
            <a:ext cx="10985500" cy="4725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300" b="0">
                <a:solidFill>
                  <a:srgbClr val="F4F7FA"/>
                </a:solidFill>
                <a:latin typeface="Arial"/>
              </a:defRPr>
            </a:pPr>
            <a:r>
              <a:t>MVC · PostgreSQL · transações · autorização · notificações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5372100"/>
            <a:ext cx="10985500" cy="504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500" b="1">
                <a:solidFill>
                  <a:srgbClr val="F4F7FA"/>
                </a:solidFill>
                <a:latin typeface="Arial"/>
              </a:defRPr>
            </a:pPr>
            <a:r>
              <a:t>Demonstração e perguntas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Moeda Estudantil</dc:title>
  <dc:subject>PUC Minas — Projeto de Software — Laboratório 3</dc:subject>
  <dc:creator>Guilherme Horta Dias; Lucas Batista Duarte; Rafael Abras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