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30 s. Apresentar o grupo e o objetivo: reconhecer alunos por meio de moedas virtuais, com benefícios oferecidos por empresas parceiras.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40 s. Explicar o papel de cada perfil. As moedas são virtuais, usadas no contexto do laboratório. O professor não se cadastra publicamente: seus dados vêm da instituição.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50 s. Os valores 100 e 60 são exemplos, não dados reais. O aluno começa com zero; a empresa não possui carteira. O saldo não pode ficar negativo. O professor consulta alunos ativos da mesma instituição, decisão D09 do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min. Explicar MVC e a separação em camadas. Controllers recebem DTOs; services verificam autorização e regras dentro de transações; repositories acessam PostgreSQL por Spring Data JPA. Hibernate valida o esquema criado pelo Flyway.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50 s. Referência: docs/modelagem/persistencia.md e diagramas/modelo-er.png. Aluno, professor e empresa associam o UUID de Usuario como PK e FK, sem herança JPA. O cupom fica na movimentação de resgate. A descrição e o custo resgatados são preservados no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45 s. A unicidade de solicitante e requisicaoId protege o comando. Repetir o mesmo comando retorna o registro original; reutilizar o identificador com outro comando gera conflito. Crédito semestral também tem proteção contra duplicidade. Falhas causam rollback da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40 s. Explicar que esconder botões não basta: os serviços validam o titular e o perfil. Cadastro e login são públicos; demais operações exigem sessão. Professores são importados por arquivo institucional privado.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45 s. O envio SMTP ocorre após a confirmação da operação. Se falhar, apenas a notificação é repetida, sem novo débito. Mailpit captura emails locais; um provedor SMTP no .env permite entrega externa. A conferência do cupom é presencial, sem baixa digital nesta versão.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min. Mostrar os endpoints em CadastrosController.java. Alunos usam /api/alunos e empresas /api/empresas. IDs aparecem nas operações individuais. Na demonstração, criar, consultar e editar nos dois perfis. Usar cadastros descartáveis para demonstrar inativação sem interromper o fluxo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 30 s. Abrir docs/modelagem/diagramas/classes.svg, componentes.svg e modelo-er.svg. Comparar Usuario, Aluno e Conta com as entidades do pacote cadastro. Mostrar o limite entre frontend e backend no diagrama de componentes. No ER, localizar conta e movimentacao, comparando com V3__moedas_vantagens_notificacoes.sql. As imagens e fontes PlantUML estão versionadas. O PDF da Sprint 1 é histórico; os modelos em docs/modelagem são 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 30 s. Tutorial ao vivo: abrir frontend/src/CadastroForm.tsx e frontend/src/api.ts no editor. Mostrar a relação entre campo e dados enviados. No navegador autenticado, abrir as ferramentas de desenvolvedor e editar um campo. Inspecionar o PUT sem expor cookies ou credenciais. Explicar que TypeScript descreve os dados e React atualiza a interface a partir do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 30 s. Abrir backend/src/main/java/br/pucminas/moedaestudantil/cadastro/CadastrosController.java e CadastrosService.java. Mostrar o método cadastrarAluno. Explicar injeção de dependência pelo construtor, DTO de entrada, validação e a delegação para service. A lógica fica no serviço para preservar as responsabilidades MVC.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 30 s. Abrir as três fontes indicadas. Mostrar que JpaRepository&lt;Aluno, UUID&gt; oferece persistência sem implementar manualmente cada consulta SQL. Mostrar uma FK na migração. Flyway aplica versões em sequência e Hibernate valida o mapeamento; alterações futuras usam novas migrações. PostgreSQL é o banco da aplicação 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 30 s. Abrir compose.yaml e executar o comando exibido, com Docker já iniciado. Explicar container e mapeamento de portas. Mostrar apenas as variáveis SMTP sem credenciais. A aplicação roda fora dos containers nesta configuração. Mailpit recebe SMTP em 1025 e exibe mensagens em 8025. A entrega externa depende de um provedor SMTP; o teste local é feito no Mailpit.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 min. Demonstrar também inativação com cadastros descartáveis de aluno e empresa. Preparar previamente aluno, empresa e professor fictícios. Login do professor: professor.demo; consultar a senha no arquivo local, sem mostrá-la nos slides. A vantagem deve custar menos que o saldo disponível. Alternar as sessões ao demonstrar os perfis. Confirmar backend, frontend, PostgreSQL e Mailpit antes da apresentação. Os endereços são da máquina que executa 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20 s. Retomar o objetivo do sistema e abrir para perguntas. Referências internas: README.md; docs/modelagem/persistencia.md; docs/modelagem/requisitos.md; código em backend/ e frontend/.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APRESENTAÇÃO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Sistema de Moeda Estudantil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Reconhecimento acadêmico que se transforma em benefícios.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768600"/>
            <a:ext cx="7620000" cy="617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56D9B0"/>
                </a:solidFill>
                <a:latin typeface="Arial"/>
              </a:defRPr>
            </a:pPr>
            <a:r>
              <a:t>Mérito → moedas → vantagens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835400"/>
            <a:ext cx="10795000" cy="11661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0">
                <a:solidFill>
                  <a:srgbClr val="F4F7FA"/>
                </a:solidFill>
                <a:latin typeface="Arial"/>
              </a:defRPr>
            </a:pPr>
            <a:r>
              <a:t>Guilherme Horta Dias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2200" b="0">
                <a:solidFill>
                  <a:srgbClr val="F4F7FA"/>
                </a:solidFill>
                <a:latin typeface="Arial"/>
              </a:defRPr>
            </a:pPr>
            <a:r>
              <a:t>Lucas Batista Duarte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2200" b="0">
                <a:solidFill>
                  <a:srgbClr val="F4F7FA"/>
                </a:solidFill>
                <a:latin typeface="Arial"/>
              </a:defRPr>
            </a:pPr>
            <a:r>
              <a:t>Rafael Abras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5384800"/>
            <a:ext cx="10795000" cy="375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B6C7D9"/>
                </a:solidFill>
                <a:latin typeface="Arial"/>
              </a:defRPr>
            </a:pPr>
            <a:r>
              <a:t>Engenharia de Software · Profa. Milena Menezes Adão · 2026/2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Do reconhecimento ao benefício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Três perfis participam de um único ciclo de mérito estudantil.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048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Professor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020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Reconhece o aluno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registra o motivo do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envio de moedas.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048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Aluno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020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Acompanha saldo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extrato e troca moedas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por vantagens.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048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Empresa parceira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020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Publica ofertas e recebe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 cupom do resgate por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email.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REGRAS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Como as moedas circulam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Exemplo ilustrativo de reconhecimento e resgate.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17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1.000 moedas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 professor recebe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crédito a cada semestre,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somado ao saldo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restante.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17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Reconhecimento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 professor envia 100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moedas e informa 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motivo. O aluno recebe 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crédito.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17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Resgate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Uma vantagem de 60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moedas gera um cupom. 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aluno fica com 40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moedas.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ARQUITETURA MVC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Responsabilidades bem definidas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A interface apresenta; os serviços aplicam as regras de negócio.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667000"/>
            <a:ext cx="2641600" cy="190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1000"/>
            <a:ext cx="2286000" cy="7790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56D9B0"/>
                </a:solidFill>
                <a:latin typeface="Arial"/>
              </a:defRPr>
            </a:pPr>
            <a:r>
              <a:t>React +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56D9B0"/>
                </a:solidFill>
                <a:latin typeface="Arial"/>
              </a:defRPr>
            </a:pPr>
            <a: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8400"/>
            <a:ext cx="228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Telas e chamadas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9600" y="3390900"/>
            <a:ext cx="254000" cy="408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56D9B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800" y="2667000"/>
            <a:ext cx="2641600" cy="190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600" y="2921000"/>
            <a:ext cx="22860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56D9B0"/>
                </a:solidFill>
                <a:latin typeface="Arial"/>
              </a:defRPr>
            </a:pPr>
            <a:r>
              <a:t>Controllers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3708400"/>
            <a:ext cx="228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HTTP, DTOs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validação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4400" y="3390900"/>
            <a:ext cx="254000" cy="408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56D9B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7600" y="2667000"/>
            <a:ext cx="2641600" cy="190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5400" y="2921000"/>
            <a:ext cx="22860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56D9B0"/>
                </a:solidFill>
                <a:latin typeface="Arial"/>
              </a:defRPr>
            </a:pPr>
            <a:r>
              <a:t>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5400" y="3708400"/>
            <a:ext cx="2286000" cy="375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Regras e transações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9200" y="3390900"/>
            <a:ext cx="254000" cy="408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56D9B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2400" y="2667000"/>
            <a:ext cx="2641600" cy="190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0200" y="2921000"/>
            <a:ext cx="22860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56D9B0"/>
                </a:solidFill>
                <a:latin typeface="Arial"/>
              </a:defRPr>
            </a:pPr>
            <a:r>
              <a:t>JPA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0200" y="3708400"/>
            <a:ext cx="228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Entidades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4F7FA"/>
                </a:solidFill>
                <a:latin typeface="Arial"/>
              </a:defRPr>
            </a:pPr>
            <a:r>
              <a:t>persistência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080000"/>
            <a:ext cx="110490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0">
                <a:solidFill>
                  <a:srgbClr val="B6C7D9"/>
                </a:solidFill>
                <a:latin typeface="Arial"/>
              </a:defRPr>
            </a:pPr>
            <a:r>
              <a:t>Spring Boot no backend · Flyway versiona o esquema do banco.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MODELO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Identidade, saldo e histórico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Visão resumida das relações; o ER completo está na documentação.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3528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Identidade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Usuário vincula aluno,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professor ou empresa.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Aluno e professor têm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instituição.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3528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Moedas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63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Aluno e professor têm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conta.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Movimentações registram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créditos, envios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resgates.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3528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Benefícios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63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Empresa publica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vantagem.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Resgate guarda cupom.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Notificação registra 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email.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INTEGRIDADE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Uma operação, um registro consistente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Saldo, movimentação e intenção de email são confirmados juntos.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048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Saldo protegido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020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Bloqueio de contas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validação impedem débito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acima do saldo.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048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Sem duplicidade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Uma identificação por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comando evita repetir 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débito ao reenviar a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operação.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048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Histórico preservado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Inativação conserva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cadastros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movimentações já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realizadas.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ACESSO E 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Cada perfil acessa suas funções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Autorização no backend acompanha a navegação da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048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Autenticação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Senhas com BCrypt.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Sessão com cookie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HttpOnly e proteção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CSRF.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048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Autorização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Aluno e empresa mantêm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apenas seu próprio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cadastro. Professor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reconhece alunos.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048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Validação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DTOs e Bean Validation.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Entidades e hashes de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senha não são expostos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pela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EMAILS E CUPONS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O resgate chega às duas partes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Aluno e empresa recebem o mesmo código de cupom.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286000"/>
            <a:ext cx="11176000" cy="1028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451100"/>
            <a:ext cx="33020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56D9B0"/>
                </a:solidFill>
                <a:latin typeface="Arial"/>
              </a:defRPr>
            </a:pPr>
            <a:r>
              <a:t>Resgate confirmado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000" y="2463800"/>
            <a:ext cx="6858000" cy="424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F4F7FA"/>
                </a:solidFill>
                <a:latin typeface="Arial"/>
              </a:defRPr>
            </a:pPr>
            <a:r>
              <a:t>Banco registra débito, cupom e notificações.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492500"/>
            <a:ext cx="11176000" cy="1028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657600"/>
            <a:ext cx="33020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56D9B0"/>
                </a:solidFill>
                <a:latin typeface="Arial"/>
              </a:defRPr>
            </a:pPr>
            <a:r>
              <a:t>Worker de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5000" y="3670300"/>
            <a:ext cx="6858000" cy="424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F4F7FA"/>
                </a:solidFill>
                <a:latin typeface="Arial"/>
              </a:defRPr>
            </a:pPr>
            <a:r>
              <a:t>Processa o envio e tenta novamente após falha.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4699000"/>
            <a:ext cx="11176000" cy="1028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4864100"/>
            <a:ext cx="33020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56D9B0"/>
                </a:solidFill>
                <a:latin typeface="Arial"/>
              </a:defRPr>
            </a:pPr>
            <a:r>
              <a:t>Mailpit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5000" y="4876800"/>
            <a:ext cx="6858000" cy="424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F4F7FA"/>
                </a:solidFill>
                <a:latin typeface="Arial"/>
              </a:defRPr>
            </a:pPr>
            <a:r>
              <a:t>Captura mensagens em localhost:8025.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CRUDS DE ALUNO E 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Criar, consultar, editar e inativar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A mesma estrutura de operações atende aos dois perfis.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17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Cadastro e consulta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020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POST cria o cadastro.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GET consulta os dados do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titular autenticado.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17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Atualização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PUT altera os dados.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 empresa mantém nome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email; o aluno mantém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seus dados acadêmicos.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17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Inativação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63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DELETE inativa 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cadastro e encerra a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sessão.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 histórico é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conservado.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MODELAGEM E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O modelo orienta a implementação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Correspondências que podem ser conferidas no repositório.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17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Classes do domínio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Usuario, Aluno e Conta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aparecem no modelo e nas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entidades do pacote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cadastro.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17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Componentes MVC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React → controllers →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services → repositories.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 separação aparece no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código.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175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Modelo 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020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Entidades e relações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acompanham as migrações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SQL em db/migration.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TUTORIAL / 1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React: da tela à requisição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Uma alteração de cadastro percorre componentes e cliente HTTP.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302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1. Localizar a tela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Abrir CadastroForm.tsx.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Identificar campos,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estado do formulário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ação de envio.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302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2. Seguir o envio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Abrir api.ts.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Observar os tipos de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dados, a chamada HTTP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 tratamento de erro.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302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8112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3. Observar no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navegador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Editar um cadastro.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Em Rede / Network,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conferir a requisição, 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status e a resposta.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TUTORIAL / 2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Spring Boot: da rota à regra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Seguir uma requisição pelo controller e pelo serviço.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302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Rota 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Em CadastrosController,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localizar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@PostMapping("/alunos")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 @RequestBody.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302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Validação e resposta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@Valid valida a entrada.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ResponseEntity.created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devolve 201 e o endereço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do novo recurso.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302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Regra de negócio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Em CadastrosService,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localizar cadastrarAluno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 acompanhar a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transação.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TUTORIAL / 3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JPA e Flyway: do objeto à tabela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O ORM acessa dados; as migrações definem o esquema.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438400"/>
            <a:ext cx="3589866" cy="3302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Entidade JPA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27400"/>
            <a:ext cx="3081866" cy="1633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Abrir Aluno.java.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Localizar @Entity,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identificador e relações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com usuário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instituição.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1066" y="2438400"/>
            <a:ext cx="3589866" cy="3302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5066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66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Abrir AlunoRepository.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JpaRepository fornece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operações básicas sobre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Aluno e UUID.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133" y="2438400"/>
            <a:ext cx="3589866" cy="33020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133" y="2667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Migração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133" y="3327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Abrir V1__cadastros.sql.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Comparar tabelas, chaves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 restrições com as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entidades.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TUTORIAL / 4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Docker e Mailpit: observar o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Um ambiente local reproduzível para a demonstração.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2349500"/>
            <a:ext cx="11176000" cy="9525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628900"/>
            <a:ext cx="10668000" cy="504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500" b="1">
                <a:solidFill>
                  <a:srgbClr val="56D9B0"/>
                </a:solidFill>
                <a:latin typeface="Arial"/>
              </a:defRPr>
            </a:pPr>
            <a:r>
              <a:t>docker compose up -d db mailpit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581400"/>
            <a:ext cx="3589866" cy="25019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3810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Serviços locais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470400"/>
            <a:ext cx="3081866" cy="1020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compose.yaml define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PostgreSQL e Mailpit.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SMTP local: porta 1025.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1066" y="3581400"/>
            <a:ext cx="3589866" cy="25019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5066" y="3810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Configuração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5066" y="4470400"/>
            <a:ext cx="3081866" cy="1020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 backend usa SMTP_HOST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e SMTP_PORT do ambiente.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Não exibir senhas.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4133" y="3581400"/>
            <a:ext cx="3589866" cy="25019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133" y="3810000"/>
            <a:ext cx="3081866" cy="456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56D9B0"/>
                </a:solidFill>
                <a:latin typeface="Arial"/>
              </a:defRPr>
            </a:pPr>
            <a:r>
              <a:t>Conferência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133" y="4470400"/>
            <a:ext cx="3081866" cy="1327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Abrir localhost:8025.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Reconhecer um aluno e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observar a notificação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F4F7FA"/>
                </a:solidFill>
                <a:latin typeface="Arial"/>
              </a:defRPr>
            </a:pPr>
            <a:r>
              <a:t>recebida.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DEMONSTRAÇÃO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Percorrer o ciclo na 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Aplicação: localhost:5173  ·  Emails: localhost:8025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298700"/>
            <a:ext cx="698500" cy="5209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56D9B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2298700"/>
            <a:ext cx="31115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F4F7FA"/>
                </a:solidFill>
                <a:latin typeface="Arial"/>
              </a:defRPr>
            </a:pPr>
            <a:r>
              <a:t>Aluno e empresa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98700"/>
            <a:ext cx="6985000" cy="714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B6C7D9"/>
                </a:solidFill>
                <a:latin typeface="Arial"/>
              </a:defRPr>
            </a:pPr>
            <a:r>
              <a:t>Criar, consultar e editar os dois perfis; publicar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B6C7D9"/>
                </a:solidFill>
                <a:latin typeface="Arial"/>
              </a:defRPr>
            </a:pPr>
            <a:r>
              <a:t>vantagem.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213100"/>
            <a:ext cx="698500" cy="5209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56D9B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3213100"/>
            <a:ext cx="31115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F4F7FA"/>
                </a:solidFill>
                <a:latin typeface="Arial"/>
              </a:defRPr>
            </a:pPr>
            <a:r>
              <a:t>Professor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13100"/>
            <a:ext cx="6985000" cy="408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B6C7D9"/>
                </a:solidFill>
                <a:latin typeface="Arial"/>
              </a:defRPr>
            </a:pPr>
            <a:r>
              <a:t>Entrar, escolher aluno e enviar moedas com um motivo.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4127500"/>
            <a:ext cx="698500" cy="5209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56D9B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4127500"/>
            <a:ext cx="31115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F4F7FA"/>
                </a:solidFill>
                <a:latin typeface="Arial"/>
              </a:defRPr>
            </a:pPr>
            <a:r>
              <a:t>Aluno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27500"/>
            <a:ext cx="6985000" cy="408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B6C7D9"/>
                </a:solidFill>
                <a:latin typeface="Arial"/>
              </a:defRPr>
            </a:pPr>
            <a:r>
              <a:t>Conferir o extrato e resgatar a vantagem.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5041900"/>
            <a:ext cx="698500" cy="5209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56D9B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5041900"/>
            <a:ext cx="3111500" cy="440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F4F7FA"/>
                </a:solidFill>
                <a:latin typeface="Arial"/>
              </a:defRPr>
            </a:pPr>
            <a:r>
              <a:t>Mailpit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41900"/>
            <a:ext cx="6985000" cy="714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B6C7D9"/>
                </a:solidFill>
                <a:latin typeface="Arial"/>
              </a:defRPr>
            </a:pPr>
            <a:r>
              <a:t>Abrir os emails do resgate e comparar o código do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B6C7D9"/>
                </a:solidFill>
                <a:latin typeface="Arial"/>
              </a:defRPr>
            </a:pPr>
            <a:r>
              <a:t>cupom.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482600"/>
            <a:ext cx="444500" cy="50800"/>
          </a:xfrm>
          <a:prstGeom prst="rect">
            <a:avLst/>
          </a:prstGeom>
          <a:solidFill>
            <a:srgbClr val="56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355600"/>
            <a:ext cx="10287000" cy="295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56D9B0"/>
                </a:solidFill>
                <a:latin typeface="Arial"/>
              </a:defRPr>
            </a:pPr>
            <a: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14400"/>
            <a:ext cx="11176000" cy="649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F4F7FA"/>
                </a:solidFill>
                <a:latin typeface="Arial"/>
              </a:defRPr>
            </a:pPr>
            <a:r>
              <a:t>Do mérito ao benefício, com histórico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651000"/>
            <a:ext cx="11176000" cy="3919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B6C7D9"/>
                </a:solidFill>
                <a:latin typeface="Arial"/>
              </a:defRPr>
            </a:pPr>
            <a:r>
              <a:t>Cadastro → reconhecimento → resgate → cupom → 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6299200"/>
            <a:ext cx="11176000" cy="12700"/>
          </a:xfrm>
          <a:prstGeom prst="rect">
            <a:avLst/>
          </a:prstGeom>
          <a:solidFill>
            <a:srgbClr val="1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6477000"/>
            <a:ext cx="10414000" cy="262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6C7D9"/>
                </a:solidFill>
                <a:latin typeface="Arial"/>
              </a:defRPr>
            </a:pPr>
            <a:r>
              <a:t>PUC MINAS  /  PROJETO DE SOFTWARE  /  LABORATÓRIO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38900"/>
            <a:ext cx="508000" cy="327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56D9B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794000"/>
            <a:ext cx="10985500" cy="1133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56D9B0"/>
                </a:solidFill>
                <a:latin typeface="Arial"/>
              </a:defRPr>
            </a:pPr>
            <a:r>
              <a:t>Três perfis conectados por um fluxo de moedas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56D9B0"/>
                </a:solidFill>
                <a:latin typeface="Arial"/>
              </a:defRPr>
            </a:pPr>
            <a:r>
              <a:t>rastreável.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4241800"/>
            <a:ext cx="10985500" cy="4725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300" b="0">
                <a:solidFill>
                  <a:srgbClr val="F4F7FA"/>
                </a:solidFill>
                <a:latin typeface="Arial"/>
              </a:defRPr>
            </a:pPr>
            <a:r>
              <a:t>MVC · PostgreSQL · transações · autorização · notificações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5372100"/>
            <a:ext cx="10985500" cy="504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500" b="1">
                <a:solidFill>
                  <a:srgbClr val="F4F7FA"/>
                </a:solidFill>
                <a:latin typeface="Arial"/>
              </a:defRPr>
            </a:pPr>
            <a:r>
              <a:t>Demonstração e perguntas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Moeda Estudantil</dc:title>
  <dc:subject>PUC Minas — Projeto de Software — Laboratório 3</dc:subject>
  <dc:creator>Guilherme Horta Dias; Lucas Batista Duarte; Rafael Abras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